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4a260fa9-2a51-ddda-18e9-237c0b98fdf5}">
          <p14:sldIdLst>
            <p14:sldId id="256"/>
          </p14:sldIdLst>
        </p14:section>
        <p14:section name="Nosotros" id="{2f2bbacf-dbe4-0dd5-31d7-c59b280d8e6e}">
          <p14:sldIdLst>
            <p14:sldId id="257"/>
          </p14:sldIdLst>
        </p14:section>
        <p14:section name="Servicios" id="{c57521c4-765e-c194-2ed2-d2a2f63b738a}">
          <p14:sldIdLst>
            <p14:sldId id="258"/>
            <p14:sldId id="259"/>
          </p14:sldIdLst>
        </p14:section>
        <p14:section name="Paquetes y precios" id="{a2f8daeb-a81f-80b1-0c21-b9282766ee66}">
          <p14:sldIdLst>
            <p14:sldId id="260"/>
            <p14:sldId id="261"/>
            <p14:sldId id="262"/>
          </p14:sldIdLst>
        </p14:section>
        <p14:section name="Cómo cotizar" id="{1fe2456d-232d-4845-70ee-95f5a0588056}">
          <p14:sldIdLst>
            <p14:sldId id="263"/>
            <p14:sldId id="264"/>
          </p14:sldIdLst>
        </p14:section>
        <p14:section name="Contacto" id="{884d79b2-8889-b0a3-6fa1-9ef943f34a5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Bajón Lunar es un servicio de barras de antojitos y bebidas para eventos en CDMX y Estado de México.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un equipo dedicado a eventos. Atendemos de 20 hasta más de 110 personas y respondemos en menos de 24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Precios por porción (o por botella en cantaritos). Cada barra se personaliza en el cotizador. ¿Otra barra en mente? Se arma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experiencia Bajón Lunar viene incluida en los paquetes Nebula, Cosmos y After; Moonlight se arma a la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paquetes según el tamaño del evento. Todos son puntos de partida: en el cotizador se ajusta cada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con gomitas, Cosmos Pack arranca en $2,400; con cantaritos, en $8,400. Los descuentos se aplican automáticamente en el cotizador.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Regalos por paquete según la barra elegida, y recomendaciones para eventos pequeños y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cotizador está en la página web. Genera un PDF con folio y el cliente puede rastrear el estado con ese 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términos y condiciones publicados en la página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datos de contacto y códigos QR a la página y a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IDO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84048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BAJÓN LUNAR  ·  BARRA &amp; ANTOJITOS PARA EVENTOS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400" kern="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a.me/525571901664" TargetMode="External"/><Relationship Id="rId7" Type="http://schemas.openxmlformats.org/officeDocument/2006/relationships/hyperlink" Target="https://ingalejandrofh01-boop.github.io/Bajon-Lunar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8" Type="http://schemas.openxmlformats.org/officeDocument/2006/relationships/image" Target="../media/image-10-6.png"/><Relationship Id="rId9" Type="http://schemas.openxmlformats.org/officeDocument/2006/relationships/image" Target="../media/image-10-7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Bajón Lunar" descr="/home/claude/assets/logo_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914400"/>
            <a:ext cx="4572000" cy="4572000"/>
          </a:xfrm>
          <a:prstGeom prst="rect">
            <a:avLst/>
          </a:prstGeom>
        </p:spPr>
      </p:pic>
      <p:sp>
        <p:nvSpPr>
          <p:cNvPr id="3" name="Etiqueta"/>
          <p:cNvSpPr txBox="1"/>
          <p:nvPr/>
        </p:nvSpPr>
        <p:spPr>
          <a:xfrm>
            <a:off x="73152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2026</a:t>
            </a:r>
            <a:endParaRPr lang="en-US" sz="1300" dirty="0"/>
          </a:p>
        </p:txBody>
      </p:sp>
      <p:sp>
        <p:nvSpPr>
          <p:cNvPr id="4" name="Título 1"/>
          <p:cNvSpPr txBox="1"/>
          <p:nvPr/>
        </p:nvSpPr>
        <p:spPr>
          <a:xfrm>
            <a:off x="731520" y="164592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BAJÓN</a:t>
            </a:r>
            <a:endParaRPr lang="en-US" sz="7200" dirty="0"/>
          </a:p>
        </p:txBody>
      </p:sp>
      <p:sp>
        <p:nvSpPr>
          <p:cNvPr id="5" name="Título 2"/>
          <p:cNvSpPr txBox="1"/>
          <p:nvPr/>
        </p:nvSpPr>
        <p:spPr>
          <a:xfrm>
            <a:off x="731520" y="269748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LUNAR</a:t>
            </a:r>
            <a:endParaRPr lang="en-US" sz="7200" dirty="0"/>
          </a:p>
        </p:txBody>
      </p:sp>
      <p:sp>
        <p:nvSpPr>
          <p:cNvPr id="6" name="Subtítulo"/>
          <p:cNvSpPr txBox="1"/>
          <p:nvPr/>
        </p:nvSpPr>
        <p:spPr>
          <a:xfrm>
            <a:off x="73152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&amp; antojitos para eventos</a:t>
            </a:r>
            <a:endParaRPr lang="en-US" sz="2400" dirty="0"/>
          </a:p>
        </p:txBody>
      </p:sp>
      <p:sp>
        <p:nvSpPr>
          <p:cNvPr id="7" name="Descripción"/>
          <p:cNvSpPr txBox="1"/>
          <p:nvPr/>
        </p:nvSpPr>
        <p:spPr>
          <a:xfrm>
            <a:off x="731520" y="4434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Chilaquiles, maruchan, gomitas locas y cantaritos. El bajón perfecto para tu evento.</a:t>
            </a:r>
            <a:endParaRPr lang="en-US" sz="1600" dirty="0"/>
          </a:p>
        </p:txBody>
      </p:sp>
      <p:sp>
        <p:nvSpPr>
          <p:cNvPr id="8" name="Chip zona"/>
          <p:cNvSpPr/>
          <p:nvPr/>
        </p:nvSpPr>
        <p:spPr>
          <a:xfrm>
            <a:off x="731520" y="5440680"/>
            <a:ext cx="338328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541264"/>
            <a:ext cx="256032" cy="256032"/>
          </a:xfrm>
          <a:prstGeom prst="rect">
            <a:avLst/>
          </a:prstGeom>
        </p:spPr>
      </p:pic>
      <p:sp>
        <p:nvSpPr>
          <p:cNvPr id="10" name="Zona"/>
          <p:cNvSpPr txBox="1"/>
          <p:nvPr/>
        </p:nvSpPr>
        <p:spPr>
          <a:xfrm>
            <a:off x="1243584" y="5440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  ·  Estado de México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QUIÉNES SOMOS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bajón que todos quieren</a:t>
            </a:r>
            <a:endParaRPr lang="en-US" sz="3000" dirty="0"/>
          </a:p>
        </p:txBody>
      </p:sp>
      <p:sp>
        <p:nvSpPr>
          <p:cNvPr id="4" name="Texto nosotros"/>
          <p:cNvSpPr txBox="1"/>
          <p:nvPr/>
        </p:nvSpPr>
        <p:spPr>
          <a:xfrm>
            <a:off x="548640" y="150876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Bajón Lunar lleva sabor, ambiente y buena vibra a tus eventos.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barras de bebidas hasta maruchan de madrugada, somos el servicio que hace que la gente no se quiera ir.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es diferente. Por eso armamos paquetes a medida: tú dices qué necesitas y nosotros lo ponemos en órbita.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06824"/>
            <a:ext cx="274320" cy="274320"/>
          </a:xfrm>
          <a:prstGeom prst="rect">
            <a:avLst/>
          </a:prstGeom>
        </p:spPr>
      </p:pic>
      <p:sp>
        <p:nvSpPr>
          <p:cNvPr id="6" name="Tipo evento 1"/>
          <p:cNvSpPr txBox="1"/>
          <p:nvPr/>
        </p:nvSpPr>
        <p:spPr>
          <a:xfrm>
            <a:off x="960120" y="4251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Fiestas y cumpleaños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64024"/>
            <a:ext cx="274320" cy="274320"/>
          </a:xfrm>
          <a:prstGeom prst="rect">
            <a:avLst/>
          </a:prstGeom>
        </p:spPr>
      </p:pic>
      <p:sp>
        <p:nvSpPr>
          <p:cNvPr id="8" name="Tipo evento 2"/>
          <p:cNvSpPr txBox="1"/>
          <p:nvPr/>
        </p:nvSpPr>
        <p:spPr>
          <a:xfrm>
            <a:off x="960120" y="4709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 años y bodas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21224"/>
            <a:ext cx="274320" cy="274320"/>
          </a:xfrm>
          <a:prstGeom prst="rect">
            <a:avLst/>
          </a:prstGeom>
        </p:spPr>
      </p:pic>
      <p:sp>
        <p:nvSpPr>
          <p:cNvPr id="10" name="Tipo evento 3"/>
          <p:cNvSpPr txBox="1"/>
          <p:nvPr/>
        </p:nvSpPr>
        <p:spPr>
          <a:xfrm>
            <a:off x="960120" y="51663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 y reuniones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678424"/>
            <a:ext cx="274320" cy="274320"/>
          </a:xfrm>
          <a:prstGeom prst="rect">
            <a:avLst/>
          </a:prstGeom>
        </p:spPr>
      </p:pic>
      <p:sp>
        <p:nvSpPr>
          <p:cNvPr id="12" name="Tipo evento 4"/>
          <p:cNvSpPr txBox="1"/>
          <p:nvPr/>
        </p:nvSpPr>
        <p:spPr>
          <a:xfrm>
            <a:off x="960120" y="56235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empresa</a:t>
            </a:r>
            <a:endParaRPr lang="en-US" sz="1600" dirty="0"/>
          </a:p>
        </p:txBody>
      </p:sp>
      <p:sp>
        <p:nvSpPr>
          <p:cNvPr id="13" name="Dato 1"/>
          <p:cNvSpPr/>
          <p:nvPr/>
        </p:nvSpPr>
        <p:spPr>
          <a:xfrm>
            <a:off x="6172200" y="150876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4" name="Dato 1 círculo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ato 1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921" y="1930481"/>
            <a:ext cx="272125" cy="272125"/>
          </a:xfrm>
          <a:prstGeom prst="rect">
            <a:avLst/>
          </a:prstGeom>
        </p:spPr>
      </p:pic>
      <p:sp>
        <p:nvSpPr>
          <p:cNvPr id="16" name="Cifra 1"/>
          <p:cNvSpPr txBox="1"/>
          <p:nvPr/>
        </p:nvSpPr>
        <p:spPr>
          <a:xfrm>
            <a:off x="6446520" y="24414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500" dirty="0"/>
          </a:p>
        </p:txBody>
      </p:sp>
      <p:sp>
        <p:nvSpPr>
          <p:cNvPr id="17" name="Etiqueta dato 1"/>
          <p:cNvSpPr txBox="1"/>
          <p:nvPr/>
        </p:nvSpPr>
        <p:spPr>
          <a:xfrm>
            <a:off x="644652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para elegir</a:t>
            </a:r>
            <a:endParaRPr lang="en-US" sz="1400" dirty="0"/>
          </a:p>
        </p:txBody>
      </p:sp>
      <p:sp>
        <p:nvSpPr>
          <p:cNvPr id="18" name="Dato 2"/>
          <p:cNvSpPr/>
          <p:nvPr/>
        </p:nvSpPr>
        <p:spPr>
          <a:xfrm>
            <a:off x="8961120" y="150876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9" name="Dato 2 círculo"/>
          <p:cNvSpPr/>
          <p:nvPr/>
        </p:nvSpPr>
        <p:spPr>
          <a:xfrm>
            <a:off x="9235440" y="1783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ato 2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841" y="1930481"/>
            <a:ext cx="272125" cy="272125"/>
          </a:xfrm>
          <a:prstGeom prst="rect">
            <a:avLst/>
          </a:prstGeom>
        </p:spPr>
      </p:pic>
      <p:sp>
        <p:nvSpPr>
          <p:cNvPr id="21" name="Cifra 2"/>
          <p:cNvSpPr txBox="1"/>
          <p:nvPr/>
        </p:nvSpPr>
        <p:spPr>
          <a:xfrm>
            <a:off x="9235440" y="24414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20–110+</a:t>
            </a:r>
            <a:endParaRPr lang="en-US" sz="2500" dirty="0"/>
          </a:p>
        </p:txBody>
      </p:sp>
      <p:sp>
        <p:nvSpPr>
          <p:cNvPr id="22" name="Etiqueta dato 2"/>
          <p:cNvSpPr txBox="1"/>
          <p:nvPr/>
        </p:nvSpPr>
        <p:spPr>
          <a:xfrm>
            <a:off x="923544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por evento</a:t>
            </a:r>
            <a:endParaRPr lang="en-US" sz="1400" dirty="0"/>
          </a:p>
        </p:txBody>
      </p:sp>
      <p:sp>
        <p:nvSpPr>
          <p:cNvPr id="23" name="Dato 3"/>
          <p:cNvSpPr/>
          <p:nvPr/>
        </p:nvSpPr>
        <p:spPr>
          <a:xfrm>
            <a:off x="6172200" y="384048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4" name="Dato 3 círculo"/>
          <p:cNvSpPr/>
          <p:nvPr/>
        </p:nvSpPr>
        <p:spPr>
          <a:xfrm>
            <a:off x="6446520" y="4114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Dato 3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921" y="4262201"/>
            <a:ext cx="272125" cy="272125"/>
          </a:xfrm>
          <a:prstGeom prst="rect">
            <a:avLst/>
          </a:prstGeom>
        </p:spPr>
      </p:pic>
      <p:sp>
        <p:nvSpPr>
          <p:cNvPr id="26" name="Cifra 3"/>
          <p:cNvSpPr txBox="1"/>
          <p:nvPr/>
        </p:nvSpPr>
        <p:spPr>
          <a:xfrm>
            <a:off x="6446520" y="47731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h</a:t>
            </a:r>
            <a:endParaRPr lang="en-US" sz="2500" dirty="0"/>
          </a:p>
        </p:txBody>
      </p:sp>
      <p:sp>
        <p:nvSpPr>
          <p:cNvPr id="27" name="Etiqueta dato 3"/>
          <p:cNvSpPr txBox="1"/>
          <p:nvPr/>
        </p:nvSpPr>
        <p:spPr>
          <a:xfrm>
            <a:off x="6446520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garantizada</a:t>
            </a:r>
            <a:endParaRPr lang="en-US" sz="1400" dirty="0"/>
          </a:p>
        </p:txBody>
      </p:sp>
      <p:sp>
        <p:nvSpPr>
          <p:cNvPr id="28" name="Dato 4"/>
          <p:cNvSpPr/>
          <p:nvPr/>
        </p:nvSpPr>
        <p:spPr>
          <a:xfrm>
            <a:off x="8961120" y="384048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9" name="Dato 4 círculo"/>
          <p:cNvSpPr/>
          <p:nvPr/>
        </p:nvSpPr>
        <p:spPr>
          <a:xfrm>
            <a:off x="9235440" y="4114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Dato 4 ícon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2841" y="4262201"/>
            <a:ext cx="272125" cy="272125"/>
          </a:xfrm>
          <a:prstGeom prst="rect">
            <a:avLst/>
          </a:prstGeom>
        </p:spPr>
      </p:pic>
      <p:sp>
        <p:nvSpPr>
          <p:cNvPr id="31" name="Cifra 4"/>
          <p:cNvSpPr txBox="1"/>
          <p:nvPr/>
        </p:nvSpPr>
        <p:spPr>
          <a:xfrm>
            <a:off x="9235440" y="47731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días</a:t>
            </a:r>
            <a:endParaRPr lang="en-US" sz="2500" dirty="0"/>
          </a:p>
        </p:txBody>
      </p:sp>
      <p:sp>
        <p:nvSpPr>
          <p:cNvPr id="32" name="Etiqueta dato 4"/>
          <p:cNvSpPr txBox="1"/>
          <p:nvPr/>
        </p:nvSpPr>
        <p:spPr>
          <a:xfrm>
            <a:off x="9235440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anticipación mínima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LO QUE SERVIMOS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Nuestras barras</a:t>
            </a:r>
            <a:endParaRPr lang="en-US" sz="3000" dirty="0"/>
          </a:p>
        </p:txBody>
      </p:sp>
      <p:sp>
        <p:nvSpPr>
          <p:cNvPr id="4" name="Barra Chilaquiles"/>
          <p:cNvSpPr/>
          <p:nvPr/>
        </p:nvSpPr>
        <p:spPr>
          <a:xfrm>
            <a:off x="548640" y="1508760"/>
            <a:ext cx="2606040" cy="434340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5" name="Barra Chilaquiles círculo"/>
          <p:cNvSpPr/>
          <p:nvPr/>
        </p:nvSpPr>
        <p:spPr>
          <a:xfrm>
            <a:off x="804672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arra Chilaquile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49501"/>
            <a:ext cx="307238" cy="307238"/>
          </a:xfrm>
          <a:prstGeom prst="rect">
            <a:avLst/>
          </a:prstGeom>
        </p:spPr>
      </p:pic>
      <p:sp>
        <p:nvSpPr>
          <p:cNvPr id="7" name="Nombre Chilaquiles"/>
          <p:cNvSpPr txBox="1"/>
          <p:nvPr/>
        </p:nvSpPr>
        <p:spPr>
          <a:xfrm>
            <a:off x="804672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CHILAQUILES</a:t>
            </a:r>
            <a:endParaRPr lang="en-US" sz="1500" dirty="0"/>
          </a:p>
        </p:txBody>
      </p:sp>
      <p:sp>
        <p:nvSpPr>
          <p:cNvPr id="8" name="Precio Chilaquiles"/>
          <p:cNvSpPr txBox="1"/>
          <p:nvPr/>
        </p:nvSpPr>
        <p:spPr>
          <a:xfrm>
            <a:off x="804672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bowl 16 oz</a:t>
            </a:r>
            <a:endParaRPr lang="en-US" sz="2800" dirty="0"/>
          </a:p>
        </p:txBody>
      </p:sp>
      <p:sp>
        <p:nvSpPr>
          <p:cNvPr id="9" name="Nota precio Chilaquiles"/>
          <p:cNvSpPr txBox="1"/>
          <p:nvPr/>
        </p:nvSpPr>
        <p:spPr>
          <a:xfrm>
            <a:off x="804672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con proteína</a:t>
            </a:r>
            <a:endParaRPr lang="en-US" sz="1200" dirty="0"/>
          </a:p>
        </p:txBody>
      </p:sp>
      <p:sp>
        <p:nvSpPr>
          <p:cNvPr id="10" name="Detalle Chilaquiles"/>
          <p:cNvSpPr txBox="1"/>
          <p:nvPr/>
        </p:nvSpPr>
        <p:spPr>
          <a:xfrm>
            <a:off x="804672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verde, roja o mole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Queso, crema y cebolla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bistec o pastor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niveles de picante</a:t>
            </a:r>
            <a:endParaRPr lang="en-US" sz="1400" dirty="0"/>
          </a:p>
        </p:txBody>
      </p:sp>
      <p:sp>
        <p:nvSpPr>
          <p:cNvPr id="11" name="Barra Maruchan"/>
          <p:cNvSpPr/>
          <p:nvPr/>
        </p:nvSpPr>
        <p:spPr>
          <a:xfrm>
            <a:off x="3364992" y="1508760"/>
            <a:ext cx="2606040" cy="434340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2" name="Barra Maruchan círculo"/>
          <p:cNvSpPr/>
          <p:nvPr/>
        </p:nvSpPr>
        <p:spPr>
          <a:xfrm>
            <a:off x="3621024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Barra Marucha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445" y="1949501"/>
            <a:ext cx="307238" cy="307238"/>
          </a:xfrm>
          <a:prstGeom prst="rect">
            <a:avLst/>
          </a:prstGeom>
        </p:spPr>
      </p:pic>
      <p:sp>
        <p:nvSpPr>
          <p:cNvPr id="14" name="Nombre Maruchan"/>
          <p:cNvSpPr txBox="1"/>
          <p:nvPr/>
        </p:nvSpPr>
        <p:spPr>
          <a:xfrm>
            <a:off x="3621024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MARUCHAN</a:t>
            </a:r>
            <a:endParaRPr lang="en-US" sz="1500" dirty="0"/>
          </a:p>
        </p:txBody>
      </p:sp>
      <p:sp>
        <p:nvSpPr>
          <p:cNvPr id="15" name="Precio Maruchan"/>
          <p:cNvSpPr txBox="1"/>
          <p:nvPr/>
        </p:nvSpPr>
        <p:spPr>
          <a:xfrm>
            <a:off x="3621024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porción</a:t>
            </a:r>
            <a:endParaRPr lang="en-US" sz="2800" dirty="0"/>
          </a:p>
        </p:txBody>
      </p:sp>
      <p:sp>
        <p:nvSpPr>
          <p:cNvPr id="16" name="Nota precio Maruchan"/>
          <p:cNvSpPr txBox="1"/>
          <p:nvPr/>
        </p:nvSpPr>
        <p:spPr>
          <a:xfrm>
            <a:off x="3621024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 garantizada</a:t>
            </a:r>
            <a:endParaRPr lang="en-US" sz="1200" dirty="0"/>
          </a:p>
        </p:txBody>
      </p:sp>
      <p:sp>
        <p:nvSpPr>
          <p:cNvPr id="17" name="Detalle Maruchan"/>
          <p:cNvSpPr txBox="1"/>
          <p:nvPr/>
        </p:nvSpPr>
        <p:spPr>
          <a:xfrm>
            <a:off x="3621024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Camarón, pollo, res o habanero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Limón y salsa incluidos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papas, Ruffles, Doritos o Takis</a:t>
            </a:r>
            <a:endParaRPr lang="en-US" sz="1400" dirty="0"/>
          </a:p>
        </p:txBody>
      </p:sp>
      <p:sp>
        <p:nvSpPr>
          <p:cNvPr id="18" name="Barra Gomitas locas"/>
          <p:cNvSpPr/>
          <p:nvPr/>
        </p:nvSpPr>
        <p:spPr>
          <a:xfrm>
            <a:off x="6181344" y="1508760"/>
            <a:ext cx="2606040" cy="434340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9" name="Barra Gomitas locas círculo"/>
          <p:cNvSpPr/>
          <p:nvPr/>
        </p:nvSpPr>
        <p:spPr>
          <a:xfrm>
            <a:off x="6437376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Barra Gomitas locas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97" y="1949501"/>
            <a:ext cx="307238" cy="307238"/>
          </a:xfrm>
          <a:prstGeom prst="rect">
            <a:avLst/>
          </a:prstGeom>
        </p:spPr>
      </p:pic>
      <p:sp>
        <p:nvSpPr>
          <p:cNvPr id="21" name="Nombre Gomitas locas"/>
          <p:cNvSpPr txBox="1"/>
          <p:nvPr/>
        </p:nvSpPr>
        <p:spPr>
          <a:xfrm>
            <a:off x="6437376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GOMITAS LOCAS</a:t>
            </a:r>
            <a:endParaRPr lang="en-US" sz="1500" dirty="0"/>
          </a:p>
        </p:txBody>
      </p:sp>
      <p:sp>
        <p:nvSpPr>
          <p:cNvPr id="22" name="Precio Gomitas locas"/>
          <p:cNvSpPr txBox="1"/>
          <p:nvPr/>
        </p:nvSpPr>
        <p:spPr>
          <a:xfrm>
            <a:off x="6437376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porción</a:t>
            </a:r>
            <a:endParaRPr lang="en-US" sz="2800" dirty="0"/>
          </a:p>
        </p:txBody>
      </p:sp>
      <p:sp>
        <p:nvSpPr>
          <p:cNvPr id="23" name="Nota precio Gomitas locas"/>
          <p:cNvSpPr txBox="1"/>
          <p:nvPr/>
        </p:nvSpPr>
        <p:spPr>
          <a:xfrm>
            <a:off x="6437376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limón y chamoy</a:t>
            </a:r>
            <a:endParaRPr lang="en-US" sz="1200" dirty="0"/>
          </a:p>
        </p:txBody>
      </p:sp>
      <p:sp>
        <p:nvSpPr>
          <p:cNvPr id="24" name="Detalle Gomitas locas"/>
          <p:cNvSpPr txBox="1"/>
          <p:nvPr/>
        </p:nvSpPr>
        <p:spPr>
          <a:xfrm>
            <a:off x="6437376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Miguelito, Tajín o chamoy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limón, tamarindo o chocolate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botana que nadie deja de comer</a:t>
            </a:r>
            <a:endParaRPr lang="en-US" sz="1400" dirty="0"/>
          </a:p>
        </p:txBody>
      </p:sp>
      <p:sp>
        <p:nvSpPr>
          <p:cNvPr id="25" name="Barra Cantaritos"/>
          <p:cNvSpPr/>
          <p:nvPr/>
        </p:nvSpPr>
        <p:spPr>
          <a:xfrm>
            <a:off x="8997696" y="1508760"/>
            <a:ext cx="2606040" cy="434340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6" name="Barra Cantaritos círculo"/>
          <p:cNvSpPr/>
          <p:nvPr/>
        </p:nvSpPr>
        <p:spPr>
          <a:xfrm>
            <a:off x="925372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Barra Cantarito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149" y="1949501"/>
            <a:ext cx="307238" cy="307238"/>
          </a:xfrm>
          <a:prstGeom prst="rect">
            <a:avLst/>
          </a:prstGeom>
        </p:spPr>
      </p:pic>
      <p:sp>
        <p:nvSpPr>
          <p:cNvPr id="28" name="Nombre Cantaritos"/>
          <p:cNvSpPr txBox="1"/>
          <p:nvPr/>
        </p:nvSpPr>
        <p:spPr>
          <a:xfrm>
            <a:off x="9253728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CANTARITOS</a:t>
            </a:r>
            <a:endParaRPr lang="en-US" sz="1500" dirty="0"/>
          </a:p>
        </p:txBody>
      </p:sp>
      <p:sp>
        <p:nvSpPr>
          <p:cNvPr id="29" name="Precio Cantaritos"/>
          <p:cNvSpPr txBox="1"/>
          <p:nvPr/>
        </p:nvSpPr>
        <p:spPr>
          <a:xfrm>
            <a:off x="9253728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botella</a:t>
            </a:r>
            <a:endParaRPr lang="en-US" sz="2800" dirty="0"/>
          </a:p>
        </p:txBody>
      </p:sp>
      <p:sp>
        <p:nvSpPr>
          <p:cNvPr id="30" name="Nota precio Cantaritos"/>
          <p:cNvSpPr txBox="1"/>
          <p:nvPr/>
        </p:nvSpPr>
        <p:spPr>
          <a:xfrm>
            <a:off x="9253728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 tradicional (Cuervo, Jimador)</a:t>
            </a:r>
            <a:endParaRPr lang="en-US" sz="1200" dirty="0"/>
          </a:p>
        </p:txBody>
      </p:sp>
      <p:sp>
        <p:nvSpPr>
          <p:cNvPr id="31" name="Detalle Cantaritos"/>
          <p:cNvSpPr txBox="1"/>
          <p:nvPr/>
        </p:nvSpPr>
        <p:spPr>
          <a:xfrm>
            <a:off x="9253728" y="4206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Julio 70: $950 por botella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Dobel Diamante: $1,050 por botella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Escarchado y fruta incluidos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INCLUIDA EN TU PAQUETE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experiencia Bajón Lunar</a:t>
            </a:r>
            <a:endParaRPr lang="en-US" sz="3000" dirty="0"/>
          </a:p>
        </p:txBody>
      </p:sp>
      <p:pic>
        <p:nvPicPr>
          <p:cNvPr id="4" name="Ilustración Cosmos" descr="/home/claude/assets/il_cosmos_1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37760" cy="3008376"/>
          </a:xfrm>
          <a:prstGeom prst="rect">
            <a:avLst/>
          </a:prstGeom>
        </p:spPr>
      </p:pic>
      <p:sp>
        <p:nvSpPr>
          <p:cNvPr id="5" name="Marco ilustración"/>
          <p:cNvSpPr/>
          <p:nvPr/>
        </p:nvSpPr>
        <p:spPr>
          <a:xfrm>
            <a:off x="548640" y="1508760"/>
            <a:ext cx="4937760" cy="3008376"/>
          </a:xfrm>
          <a:prstGeom prst="roundRect">
            <a:avLst>
              <a:gd name="adj" fmla="val 4255"/>
            </a:avLst>
          </a:prstGeom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" name="Texto experiencia"/>
          <p:cNvSpPr txBox="1"/>
          <p:nvPr/>
        </p:nvSpPr>
        <p:spPr>
          <a:xfrm>
            <a:off x="54864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llevamos comida: montamos un espacio que se ve increíble en fotos y que hace que tus invitados regresen a la barra toda la noche.</a:t>
            </a:r>
            <a:endParaRPr lang="en-US" sz="1600" dirty="0"/>
          </a:p>
        </p:txBody>
      </p:sp>
      <p:sp>
        <p:nvSpPr>
          <p:cNvPr id="7" name="Experiencia 1"/>
          <p:cNvSpPr/>
          <p:nvPr/>
        </p:nvSpPr>
        <p:spPr>
          <a:xfrm>
            <a:off x="5989320" y="150876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Experiencia 1 círculo"/>
          <p:cNvSpPr/>
          <p:nvPr/>
        </p:nvSpPr>
        <p:spPr>
          <a:xfrm>
            <a:off x="6190488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Experiencia 1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47" y="1895551"/>
            <a:ext cx="241402" cy="241402"/>
          </a:xfrm>
          <a:prstGeom prst="rect">
            <a:avLst/>
          </a:prstGeom>
        </p:spPr>
      </p:pic>
      <p:sp>
        <p:nvSpPr>
          <p:cNvPr id="10" name="Título exp 1"/>
          <p:cNvSpPr txBox="1"/>
          <p:nvPr/>
        </p:nvSpPr>
        <p:spPr>
          <a:xfrm>
            <a:off x="685800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Espejo instagrameable</a:t>
            </a:r>
            <a:endParaRPr lang="en-US" sz="1400" dirty="0"/>
          </a:p>
        </p:txBody>
      </p:sp>
      <p:sp>
        <p:nvSpPr>
          <p:cNvPr id="11" name="Desc exp 1"/>
          <p:cNvSpPr txBox="1"/>
          <p:nvPr/>
        </p:nvSpPr>
        <p:spPr>
          <a:xfrm>
            <a:off x="6858000" y="21488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rincón favorito para la foto del evento</a:t>
            </a:r>
            <a:endParaRPr lang="en-US" sz="1100" dirty="0"/>
          </a:p>
        </p:txBody>
      </p:sp>
      <p:sp>
        <p:nvSpPr>
          <p:cNvPr id="12" name="Experiencia 2"/>
          <p:cNvSpPr/>
          <p:nvPr/>
        </p:nvSpPr>
        <p:spPr>
          <a:xfrm>
            <a:off x="8915400" y="150876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3" name="Experiencia 2 círculo"/>
          <p:cNvSpPr/>
          <p:nvPr/>
        </p:nvSpPr>
        <p:spPr>
          <a:xfrm>
            <a:off x="9116568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Experiencia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327" y="1895551"/>
            <a:ext cx="241402" cy="241402"/>
          </a:xfrm>
          <a:prstGeom prst="rect">
            <a:avLst/>
          </a:prstGeom>
        </p:spPr>
      </p:pic>
      <p:sp>
        <p:nvSpPr>
          <p:cNvPr id="15" name="Título exp 2"/>
          <p:cNvSpPr txBox="1"/>
          <p:nvPr/>
        </p:nvSpPr>
        <p:spPr>
          <a:xfrm>
            <a:off x="97840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neón</a:t>
            </a:r>
            <a:endParaRPr lang="en-US" sz="1400" dirty="0"/>
          </a:p>
        </p:txBody>
      </p:sp>
      <p:sp>
        <p:nvSpPr>
          <p:cNvPr id="16" name="Desc exp 2"/>
          <p:cNvSpPr txBox="1"/>
          <p:nvPr/>
        </p:nvSpPr>
        <p:spPr>
          <a:xfrm>
            <a:off x="9784080" y="21488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que marca el ambiente lunar</a:t>
            </a:r>
            <a:endParaRPr lang="en-US" sz="1100" dirty="0"/>
          </a:p>
        </p:txBody>
      </p:sp>
      <p:sp>
        <p:nvSpPr>
          <p:cNvPr id="17" name="Experiencia 3"/>
          <p:cNvSpPr/>
          <p:nvPr/>
        </p:nvSpPr>
        <p:spPr>
          <a:xfrm>
            <a:off x="5989320" y="301752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8" name="Experiencia 3 círculo"/>
          <p:cNvSpPr/>
          <p:nvPr/>
        </p:nvSpPr>
        <p:spPr>
          <a:xfrm>
            <a:off x="6190488" y="32735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Experiencia 3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47" y="3404311"/>
            <a:ext cx="241402" cy="241402"/>
          </a:xfrm>
          <a:prstGeom prst="rect">
            <a:avLst/>
          </a:prstGeom>
        </p:spPr>
      </p:pic>
      <p:sp>
        <p:nvSpPr>
          <p:cNvPr id="20" name="Título exp 3"/>
          <p:cNvSpPr txBox="1"/>
          <p:nvPr/>
        </p:nvSpPr>
        <p:spPr>
          <a:xfrm>
            <a:off x="685800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Vasos y platos</a:t>
            </a:r>
            <a:endParaRPr lang="en-US" sz="1400" dirty="0"/>
          </a:p>
        </p:txBody>
      </p:sp>
      <p:sp>
        <p:nvSpPr>
          <p:cNvPr id="21" name="Desc exp 3"/>
          <p:cNvSpPr txBox="1"/>
          <p:nvPr/>
        </p:nvSpPr>
        <p:spPr>
          <a:xfrm>
            <a:off x="685800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Temáticos, con la identidad Bajón Lunar</a:t>
            </a:r>
            <a:endParaRPr lang="en-US" sz="1100" dirty="0"/>
          </a:p>
        </p:txBody>
      </p:sp>
      <p:sp>
        <p:nvSpPr>
          <p:cNvPr id="22" name="Experiencia 4"/>
          <p:cNvSpPr/>
          <p:nvPr/>
        </p:nvSpPr>
        <p:spPr>
          <a:xfrm>
            <a:off x="8915400" y="301752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3" name="Experiencia 4 círculo"/>
          <p:cNvSpPr/>
          <p:nvPr/>
        </p:nvSpPr>
        <p:spPr>
          <a:xfrm>
            <a:off x="9116568" y="32735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Experiencia 4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327" y="3404311"/>
            <a:ext cx="241402" cy="241402"/>
          </a:xfrm>
          <a:prstGeom prst="rect">
            <a:avLst/>
          </a:prstGeom>
        </p:spPr>
      </p:pic>
      <p:sp>
        <p:nvSpPr>
          <p:cNvPr id="25" name="Título exp 4"/>
          <p:cNvSpPr txBox="1"/>
          <p:nvPr/>
        </p:nvSpPr>
        <p:spPr>
          <a:xfrm>
            <a:off x="978408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fotográfico</a:t>
            </a:r>
            <a:endParaRPr lang="en-US" sz="1400" dirty="0"/>
          </a:p>
        </p:txBody>
      </p:sp>
      <p:sp>
        <p:nvSpPr>
          <p:cNvPr id="26" name="Desc exp 4"/>
          <p:cNvSpPr txBox="1"/>
          <p:nvPr/>
        </p:nvSpPr>
        <p:spPr>
          <a:xfrm>
            <a:off x="978408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cuidado de principio a fin</a:t>
            </a:r>
            <a:endParaRPr lang="en-US" sz="1100" dirty="0"/>
          </a:p>
        </p:txBody>
      </p:sp>
      <p:sp>
        <p:nvSpPr>
          <p:cNvPr id="27" name="Experiencia 5"/>
          <p:cNvSpPr/>
          <p:nvPr/>
        </p:nvSpPr>
        <p:spPr>
          <a:xfrm>
            <a:off x="5989320" y="452628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8" name="Experiencia 5 círculo"/>
          <p:cNvSpPr/>
          <p:nvPr/>
        </p:nvSpPr>
        <p:spPr>
          <a:xfrm>
            <a:off x="6190488" y="47823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Experiencia 5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247" y="4913071"/>
            <a:ext cx="241402" cy="241402"/>
          </a:xfrm>
          <a:prstGeom prst="rect">
            <a:avLst/>
          </a:prstGeom>
        </p:spPr>
      </p:pic>
      <p:sp>
        <p:nvSpPr>
          <p:cNvPr id="30" name="Título exp 5"/>
          <p:cNvSpPr txBox="1"/>
          <p:nvPr/>
        </p:nvSpPr>
        <p:spPr>
          <a:xfrm>
            <a:off x="685800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Vitroleros de cortesía</a:t>
            </a:r>
            <a:endParaRPr lang="en-US" sz="1400" dirty="0"/>
          </a:p>
        </p:txBody>
      </p:sp>
      <p:sp>
        <p:nvSpPr>
          <p:cNvPr id="31" name="Desc exp 5"/>
          <p:cNvSpPr txBox="1"/>
          <p:nvPr/>
        </p:nvSpPr>
        <p:spPr>
          <a:xfrm>
            <a:off x="6858000" y="51663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de Jamaica, limón u horchata</a:t>
            </a:r>
            <a:endParaRPr lang="en-US" sz="1100" dirty="0"/>
          </a:p>
        </p:txBody>
      </p:sp>
      <p:sp>
        <p:nvSpPr>
          <p:cNvPr id="32" name="Experiencia 6"/>
          <p:cNvSpPr/>
          <p:nvPr/>
        </p:nvSpPr>
        <p:spPr>
          <a:xfrm>
            <a:off x="8915400" y="4526280"/>
            <a:ext cx="274320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33" name="Experiencia 6 círculo"/>
          <p:cNvSpPr/>
          <p:nvPr/>
        </p:nvSpPr>
        <p:spPr>
          <a:xfrm>
            <a:off x="9116568" y="47823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Experiencia 6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7327" y="4913071"/>
            <a:ext cx="241402" cy="241402"/>
          </a:xfrm>
          <a:prstGeom prst="rect">
            <a:avLst/>
          </a:prstGeom>
        </p:spPr>
      </p:pic>
      <p:sp>
        <p:nvSpPr>
          <p:cNvPr id="35" name="Título exp 6"/>
          <p:cNvSpPr txBox="1"/>
          <p:nvPr/>
        </p:nvSpPr>
        <p:spPr>
          <a:xfrm>
            <a:off x="9784080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y montaje</a:t>
            </a:r>
            <a:endParaRPr lang="en-US" sz="1400" dirty="0"/>
          </a:p>
        </p:txBody>
      </p:sp>
      <p:sp>
        <p:nvSpPr>
          <p:cNvPr id="36" name="Desc exp 6"/>
          <p:cNvSpPr txBox="1"/>
          <p:nvPr/>
        </p:nvSpPr>
        <p:spPr>
          <a:xfrm>
            <a:off x="9784080" y="51663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Llegamos 30 min antes y dejamos limpio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PAQUETES 2026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Elige tu órbita</a:t>
            </a:r>
            <a:endParaRPr lang="en-US" sz="3000" dirty="0"/>
          </a:p>
        </p:txBody>
      </p:sp>
      <p:sp>
        <p:nvSpPr>
          <p:cNvPr id="4" name="Paquete Nebula Mix"/>
          <p:cNvSpPr/>
          <p:nvPr/>
        </p:nvSpPr>
        <p:spPr>
          <a:xfrm>
            <a:off x="548640" y="1508760"/>
            <a:ext cx="2606040" cy="452628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5" name="Ilustración Nebula Mix" descr="/home/claude/assets/il_nebula_1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18488"/>
            <a:ext cx="2386584" cy="1454325"/>
          </a:xfrm>
          <a:prstGeom prst="rect">
            <a:avLst/>
          </a:prstGeom>
        </p:spPr>
      </p:pic>
      <p:sp>
        <p:nvSpPr>
          <p:cNvPr id="6" name="Num Nebula Mix"/>
          <p:cNvSpPr txBox="1"/>
          <p:nvPr/>
        </p:nvSpPr>
        <p:spPr>
          <a:xfrm>
            <a:off x="804672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</a:t>
            </a:r>
            <a:endParaRPr lang="en-US" sz="1000" dirty="0"/>
          </a:p>
        </p:txBody>
      </p:sp>
      <p:sp>
        <p:nvSpPr>
          <p:cNvPr id="7" name="Nombre Nebula Mix"/>
          <p:cNvSpPr txBox="1"/>
          <p:nvPr/>
        </p:nvSpPr>
        <p:spPr>
          <a:xfrm>
            <a:off x="804672" y="3502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NEBULA MIX</a:t>
            </a:r>
            <a:endParaRPr lang="en-US" sz="1700" dirty="0"/>
          </a:p>
        </p:txBody>
      </p:sp>
      <p:sp>
        <p:nvSpPr>
          <p:cNvPr id="8" name="Chip personas Nebula Mix"/>
          <p:cNvSpPr/>
          <p:nvPr/>
        </p:nvSpPr>
        <p:spPr>
          <a:xfrm>
            <a:off x="804672" y="4050792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9" name="Personas Nebula Mix"/>
          <p:cNvSpPr txBox="1"/>
          <p:nvPr/>
        </p:nvSpPr>
        <p:spPr>
          <a:xfrm>
            <a:off x="804672" y="4050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30 personas</a:t>
            </a:r>
            <a:endParaRPr lang="en-US" sz="1200" dirty="0"/>
          </a:p>
        </p:txBody>
      </p:sp>
      <p:sp>
        <p:nvSpPr>
          <p:cNvPr id="10" name="Incluye Nebula Mix"/>
          <p:cNvSpPr txBox="1"/>
          <p:nvPr/>
        </p:nvSpPr>
        <p:spPr>
          <a:xfrm>
            <a:off x="804672" y="4526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2 horas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vitrolero de cortesía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básico incluido</a:t>
            </a:r>
            <a:endParaRPr lang="en-US" sz="1300" dirty="0"/>
          </a:p>
        </p:txBody>
      </p:sp>
      <p:sp>
        <p:nvSpPr>
          <p:cNvPr id="11" name="Etiqueta Nebula Mix"/>
          <p:cNvSpPr txBox="1"/>
          <p:nvPr/>
        </p:nvSpPr>
        <p:spPr>
          <a:xfrm>
            <a:off x="804672" y="5623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empezar</a:t>
            </a:r>
            <a:endParaRPr lang="en-US" sz="1300" dirty="0"/>
          </a:p>
        </p:txBody>
      </p:sp>
      <p:sp>
        <p:nvSpPr>
          <p:cNvPr id="12" name="Paquete Cosmos Pack"/>
          <p:cNvSpPr/>
          <p:nvPr/>
        </p:nvSpPr>
        <p:spPr>
          <a:xfrm>
            <a:off x="3364992" y="1508760"/>
            <a:ext cx="2606040" cy="452628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3" name="Ilustración Cosmos Pack" descr="/home/claude/assets/il_cosmos_11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18488"/>
            <a:ext cx="2386584" cy="1454325"/>
          </a:xfrm>
          <a:prstGeom prst="rect">
            <a:avLst/>
          </a:prstGeom>
        </p:spPr>
      </p:pic>
      <p:sp>
        <p:nvSpPr>
          <p:cNvPr id="14" name="Num Cosmos Pack"/>
          <p:cNvSpPr txBox="1"/>
          <p:nvPr/>
        </p:nvSpPr>
        <p:spPr>
          <a:xfrm>
            <a:off x="3621024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02</a:t>
            </a:r>
            <a:endParaRPr lang="en-US" sz="1000" dirty="0"/>
          </a:p>
        </p:txBody>
      </p:sp>
      <p:sp>
        <p:nvSpPr>
          <p:cNvPr id="15" name="Nombre Cosmos Pack"/>
          <p:cNvSpPr txBox="1"/>
          <p:nvPr/>
        </p:nvSpPr>
        <p:spPr>
          <a:xfrm>
            <a:off x="3621024" y="3502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COSMOS PACK</a:t>
            </a:r>
            <a:endParaRPr lang="en-US" sz="1700" dirty="0"/>
          </a:p>
        </p:txBody>
      </p:sp>
      <p:sp>
        <p:nvSpPr>
          <p:cNvPr id="16" name="Chip personas Cosmos Pack"/>
          <p:cNvSpPr/>
          <p:nvPr/>
        </p:nvSpPr>
        <p:spPr>
          <a:xfrm>
            <a:off x="3621024" y="4050792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7" name="Personas Cosmos Pack"/>
          <p:cNvSpPr txBox="1"/>
          <p:nvPr/>
        </p:nvSpPr>
        <p:spPr>
          <a:xfrm>
            <a:off x="3621024" y="4050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60 personas</a:t>
            </a:r>
            <a:endParaRPr lang="en-US" sz="1200" dirty="0"/>
          </a:p>
        </p:txBody>
      </p:sp>
      <p:sp>
        <p:nvSpPr>
          <p:cNvPr id="18" name="Incluye Cosmos Pack"/>
          <p:cNvSpPr txBox="1"/>
          <p:nvPr/>
        </p:nvSpPr>
        <p:spPr>
          <a:xfrm>
            <a:off x="3621024" y="4526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2 horas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vitroleros de cortesía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Espejo + barra neón</a:t>
            </a:r>
            <a:endParaRPr lang="en-US" sz="1300" dirty="0"/>
          </a:p>
        </p:txBody>
      </p:sp>
      <p:sp>
        <p:nvSpPr>
          <p:cNvPr id="19" name="Etiqueta Cosmos Pack"/>
          <p:cNvSpPr txBox="1"/>
          <p:nvPr/>
        </p:nvSpPr>
        <p:spPr>
          <a:xfrm>
            <a:off x="3621024" y="5623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descuento</a:t>
            </a:r>
            <a:endParaRPr lang="en-US" sz="1300" dirty="0"/>
          </a:p>
        </p:txBody>
      </p:sp>
      <p:sp>
        <p:nvSpPr>
          <p:cNvPr id="20" name="Paquete After Moon"/>
          <p:cNvSpPr/>
          <p:nvPr/>
        </p:nvSpPr>
        <p:spPr>
          <a:xfrm>
            <a:off x="6181344" y="1508760"/>
            <a:ext cx="2606040" cy="452628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21" name="Ilustración After Moon" descr="/home/claude/assets/il_after_11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18488"/>
            <a:ext cx="2386584" cy="1454325"/>
          </a:xfrm>
          <a:prstGeom prst="rect">
            <a:avLst/>
          </a:prstGeom>
        </p:spPr>
      </p:pic>
      <p:sp>
        <p:nvSpPr>
          <p:cNvPr id="22" name="Num After Moon"/>
          <p:cNvSpPr txBox="1"/>
          <p:nvPr/>
        </p:nvSpPr>
        <p:spPr>
          <a:xfrm>
            <a:off x="6437376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03</a:t>
            </a:r>
            <a:endParaRPr lang="en-US" sz="1000" dirty="0"/>
          </a:p>
        </p:txBody>
      </p:sp>
      <p:sp>
        <p:nvSpPr>
          <p:cNvPr id="23" name="Nombre After Moon"/>
          <p:cNvSpPr txBox="1"/>
          <p:nvPr/>
        </p:nvSpPr>
        <p:spPr>
          <a:xfrm>
            <a:off x="6437376" y="3502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MOON</a:t>
            </a:r>
            <a:endParaRPr lang="en-US" sz="1700" dirty="0"/>
          </a:p>
        </p:txBody>
      </p:sp>
      <p:sp>
        <p:nvSpPr>
          <p:cNvPr id="24" name="Chip personas After Moon"/>
          <p:cNvSpPr/>
          <p:nvPr/>
        </p:nvSpPr>
        <p:spPr>
          <a:xfrm>
            <a:off x="6437376" y="4050792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5" name="Personas After Moon"/>
          <p:cNvSpPr txBox="1"/>
          <p:nvPr/>
        </p:nvSpPr>
        <p:spPr>
          <a:xfrm>
            <a:off x="6437376" y="4050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100 personas</a:t>
            </a:r>
            <a:endParaRPr lang="en-US" sz="1200" dirty="0"/>
          </a:p>
        </p:txBody>
      </p:sp>
      <p:sp>
        <p:nvSpPr>
          <p:cNvPr id="26" name="Incluye After Moon"/>
          <p:cNvSpPr txBox="1"/>
          <p:nvPr/>
        </p:nvSpPr>
        <p:spPr>
          <a:xfrm>
            <a:off x="6437376" y="4526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3 horas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vitroleros 20 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Vasos y platos temáticos</a:t>
            </a:r>
            <a:endParaRPr lang="en-US" sz="1300" dirty="0"/>
          </a:p>
        </p:txBody>
      </p:sp>
      <p:sp>
        <p:nvSpPr>
          <p:cNvPr id="27" name="Etiqueta After Moon"/>
          <p:cNvSpPr txBox="1"/>
          <p:nvPr/>
        </p:nvSpPr>
        <p:spPr>
          <a:xfrm>
            <a:off x="6437376" y="5623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 descuento</a:t>
            </a:r>
            <a:endParaRPr lang="en-US" sz="1300" dirty="0"/>
          </a:p>
        </p:txBody>
      </p:sp>
      <p:sp>
        <p:nvSpPr>
          <p:cNvPr id="28" name="Paquete Moonlight"/>
          <p:cNvSpPr/>
          <p:nvPr/>
        </p:nvSpPr>
        <p:spPr>
          <a:xfrm>
            <a:off x="8997696" y="1508760"/>
            <a:ext cx="2606040" cy="4526280"/>
          </a:xfrm>
          <a:prstGeom prst="roundRect">
            <a:avLst>
              <a:gd name="adj" fmla="val 491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80000"/>
              </a:schemeClr>
            </a:solidFill>
            <a:prstDash val="solid"/>
          </a:ln>
        </p:spPr>
      </p:sp>
      <p:pic>
        <p:nvPicPr>
          <p:cNvPr id="29" name="Ilustración Moonlight" descr="/home/claude/assets/il_moonlight_110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618488"/>
            <a:ext cx="2386584" cy="1454325"/>
          </a:xfrm>
          <a:prstGeom prst="rect">
            <a:avLst/>
          </a:prstGeom>
        </p:spPr>
      </p:pic>
      <p:sp>
        <p:nvSpPr>
          <p:cNvPr id="30" name="Num Moonlight"/>
          <p:cNvSpPr txBox="1"/>
          <p:nvPr/>
        </p:nvSpPr>
        <p:spPr>
          <a:xfrm>
            <a:off x="925372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04</a:t>
            </a:r>
            <a:endParaRPr lang="en-US" sz="1000" dirty="0"/>
          </a:p>
        </p:txBody>
      </p:sp>
      <p:sp>
        <p:nvSpPr>
          <p:cNvPr id="31" name="Nombre Moonlight"/>
          <p:cNvSpPr txBox="1"/>
          <p:nvPr/>
        </p:nvSpPr>
        <p:spPr>
          <a:xfrm>
            <a:off x="9253728" y="3502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MOONLIGHT</a:t>
            </a:r>
            <a:endParaRPr lang="en-US" sz="1700" dirty="0"/>
          </a:p>
        </p:txBody>
      </p:sp>
      <p:sp>
        <p:nvSpPr>
          <p:cNvPr id="32" name="Chip personas Moonlight"/>
          <p:cNvSpPr/>
          <p:nvPr/>
        </p:nvSpPr>
        <p:spPr>
          <a:xfrm>
            <a:off x="9253728" y="4050792"/>
            <a:ext cx="192024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22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3" name="Personas Moonlight"/>
          <p:cNvSpPr txBox="1"/>
          <p:nvPr/>
        </p:nvSpPr>
        <p:spPr>
          <a:xfrm>
            <a:off x="9253728" y="4050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 personas</a:t>
            </a:r>
            <a:endParaRPr lang="en-US" sz="1200" dirty="0"/>
          </a:p>
        </p:txBody>
      </p:sp>
      <p:sp>
        <p:nvSpPr>
          <p:cNvPr id="34" name="Incluye Moonlight"/>
          <p:cNvSpPr txBox="1"/>
          <p:nvPr/>
        </p:nvSpPr>
        <p:spPr>
          <a:xfrm>
            <a:off x="9253728" y="4526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a la medida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directa y exclusiva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Cortesías premium</a:t>
            </a:r>
            <a:endParaRPr lang="en-US" sz="1300" dirty="0"/>
          </a:p>
        </p:txBody>
      </p:sp>
      <p:sp>
        <p:nvSpPr>
          <p:cNvPr id="35" name="Etiqueta Moonlight"/>
          <p:cNvSpPr txBox="1"/>
          <p:nvPr/>
        </p:nvSpPr>
        <p:spPr>
          <a:xfrm>
            <a:off x="9253728" y="5623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descuento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PRECIOS DESDE · MISMOS QUE EN EL COTIZADOR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precio cambia según tu barra</a:t>
            </a:r>
            <a:endParaRPr lang="en-US" sz="3000" dirty="0"/>
          </a:p>
        </p:txBody>
      </p:sp>
      <p:graphicFrame>
        <p:nvGraphicFramePr>
          <p:cNvPr id="7" name="Tabla de preci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03020"/>
                <a:gridCol w="1303020"/>
                <a:gridCol w="1303020"/>
                <a:gridCol w="13030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Chilaquiles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proteína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Maruchan o gomitas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Cantaritos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Nebula Mix · 20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Pack · 40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Moon · 70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$6,930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Moonlight · 110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$8,250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5" name="Nota tabla"/>
          <p:cNvSpPr txBox="1"/>
          <p:nvPr/>
        </p:nvSpPr>
        <p:spPr>
          <a:xfrm>
            <a:off x="548640" y="4572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arranque con el mínimo de personas y 1 porción por persona (chilaquiles: bowl de 16 oz). Cantaritos: precio por botella; incluye el servicio y las botellas mínimas de tequila tradicional a $450 (4, 8, 14 o 22).</a:t>
            </a:r>
            <a:endParaRPr lang="en-US" sz="1200" dirty="0"/>
          </a:p>
        </p:txBody>
      </p:sp>
      <p:sp>
        <p:nvSpPr>
          <p:cNvPr id="6" name="Descuentos"/>
          <p:cNvSpPr/>
          <p:nvPr/>
        </p:nvSpPr>
        <p:spPr>
          <a:xfrm>
            <a:off x="8458200" y="1508760"/>
            <a:ext cx="3200400" cy="4526280"/>
          </a:xfrm>
          <a:prstGeom prst="roundRect">
            <a:avLst>
              <a:gd name="adj" fmla="val 4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7" name="Descuentos círculo"/>
          <p:cNvSpPr/>
          <p:nvPr/>
        </p:nvSpPr>
        <p:spPr>
          <a:xfrm>
            <a:off x="8732520" y="178308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Descuento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9921" y="1930481"/>
            <a:ext cx="272125" cy="272125"/>
          </a:xfrm>
          <a:prstGeom prst="rect">
            <a:avLst/>
          </a:prstGeom>
        </p:spPr>
      </p:pic>
      <p:sp>
        <p:nvSpPr>
          <p:cNvPr id="9" name="Título descuentos"/>
          <p:cNvSpPr txBox="1"/>
          <p:nvPr/>
        </p:nvSpPr>
        <p:spPr>
          <a:xfrm>
            <a:off x="9418320" y="1810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DESCUENTOS</a:t>
            </a:r>
            <a:endParaRPr lang="en-US" sz="1600" dirty="0"/>
          </a:p>
        </p:txBody>
      </p:sp>
      <p:sp>
        <p:nvSpPr>
          <p:cNvPr id="10" name="Descuento 5%"/>
          <p:cNvSpPr txBox="1"/>
          <p:nvPr/>
        </p:nvSpPr>
        <p:spPr>
          <a:xfrm>
            <a:off x="8732520" y="2560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000" dirty="0"/>
          </a:p>
        </p:txBody>
      </p:sp>
      <p:sp>
        <p:nvSpPr>
          <p:cNvPr id="11" name="Aplica 5%"/>
          <p:cNvSpPr txBox="1"/>
          <p:nvPr/>
        </p:nvSpPr>
        <p:spPr>
          <a:xfrm>
            <a:off x="960120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Pack</a:t>
            </a:r>
            <a:endParaRPr lang="en-US" sz="1250" dirty="0"/>
          </a:p>
        </p:txBody>
      </p:sp>
      <p:sp>
        <p:nvSpPr>
          <p:cNvPr id="12" name="Descuento 10%"/>
          <p:cNvSpPr txBox="1"/>
          <p:nvPr/>
        </p:nvSpPr>
        <p:spPr>
          <a:xfrm>
            <a:off x="8732520" y="31821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000" dirty="0"/>
          </a:p>
        </p:txBody>
      </p:sp>
      <p:sp>
        <p:nvSpPr>
          <p:cNvPr id="13" name="Aplica 10%"/>
          <p:cNvSpPr txBox="1"/>
          <p:nvPr/>
        </p:nvSpPr>
        <p:spPr>
          <a:xfrm>
            <a:off x="9601200" y="31821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Moon</a:t>
            </a:r>
            <a:endParaRPr lang="en-US" sz="1250" dirty="0"/>
          </a:p>
        </p:txBody>
      </p:sp>
      <p:sp>
        <p:nvSpPr>
          <p:cNvPr id="14" name="Descuento 20%"/>
          <p:cNvSpPr txBox="1"/>
          <p:nvPr/>
        </p:nvSpPr>
        <p:spPr>
          <a:xfrm>
            <a:off x="8732520" y="380390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  <p:sp>
        <p:nvSpPr>
          <p:cNvPr id="15" name="Aplica 20%"/>
          <p:cNvSpPr txBox="1"/>
          <p:nvPr/>
        </p:nvSpPr>
        <p:spPr>
          <a:xfrm>
            <a:off x="9601200" y="38039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Moonlight (110+ personas)</a:t>
            </a:r>
            <a:endParaRPr lang="en-US" sz="1250" dirty="0"/>
          </a:p>
        </p:txBody>
      </p:sp>
      <p:sp>
        <p:nvSpPr>
          <p:cNvPr id="16" name="Descuento 30%"/>
          <p:cNvSpPr txBox="1"/>
          <p:nvPr/>
        </p:nvSpPr>
        <p:spPr>
          <a:xfrm>
            <a:off x="8732520" y="442569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Aplica 30%"/>
          <p:cNvSpPr txBox="1"/>
          <p:nvPr/>
        </p:nvSpPr>
        <p:spPr>
          <a:xfrm>
            <a:off x="9601200" y="44256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paquete desde 250 personas</a:t>
            </a:r>
            <a:endParaRPr lang="en-US" sz="1250" dirty="0"/>
          </a:p>
        </p:txBody>
      </p:sp>
      <p:sp>
        <p:nvSpPr>
          <p:cNvPr id="18" name="Traslado"/>
          <p:cNvSpPr txBox="1"/>
          <p:nvPr/>
        </p:nvSpPr>
        <p:spPr>
          <a:xfrm>
            <a:off x="873252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Traslado: $200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adicional: consumo + $500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INCLUIDO SIN COSTO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Tus regalos y nuestras recomendaciones</a:t>
            </a:r>
            <a:endParaRPr lang="en-US" sz="3000" dirty="0"/>
          </a:p>
        </p:txBody>
      </p:sp>
      <p:graphicFrame>
        <p:nvGraphicFramePr>
          <p:cNvPr id="8" name="Tabla de rega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barra de comida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cantaritos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Nebula Mix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vitrolero 20L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botella de cortesía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Pack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vitroleros 20L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botella tradicional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Moon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vitroleros 20L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botellas tradicionales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Moonlight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vitroleros 20L o café (chilaquiles) · dulces + 3 vitroleros 15L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botellas + bolsa gigante de papas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5" name="Nota regalos"/>
          <p:cNvSpPr txBox="1"/>
          <p:nvPr/>
        </p:nvSpPr>
        <p:spPr>
          <a:xfrm>
            <a:off x="548640" y="45262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1 vitrolero 20L de regalo por cada 50 invitados. Sabores: Jamaica, limón u horchata. Los vitroleros extra que pidas se cobran aparte. La experiencia Bajón Lunar va incluida en todos los paquetes.</a:t>
            </a:r>
            <a:endParaRPr lang="en-US" sz="1200" dirty="0"/>
          </a:p>
        </p:txBody>
      </p:sp>
      <p:sp>
        <p:nvSpPr>
          <p:cNvPr id="6" name="Recomendación 1"/>
          <p:cNvSpPr/>
          <p:nvPr/>
        </p:nvSpPr>
        <p:spPr>
          <a:xfrm>
            <a:off x="7635240" y="1508760"/>
            <a:ext cx="3977640" cy="2148840"/>
          </a:xfrm>
          <a:prstGeom prst="roundRect">
            <a:avLst>
              <a:gd name="adj" fmla="val 595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7" name="Recomendación 1 círculo"/>
          <p:cNvSpPr/>
          <p:nvPr/>
        </p:nvSpPr>
        <p:spPr>
          <a:xfrm>
            <a:off x="7863840" y="17099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Recomendación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599" y="1840687"/>
            <a:ext cx="241402" cy="241402"/>
          </a:xfrm>
          <a:prstGeom prst="rect">
            <a:avLst/>
          </a:prstGeom>
        </p:spPr>
      </p:pic>
      <p:sp>
        <p:nvSpPr>
          <p:cNvPr id="9" name="Título rec 1"/>
          <p:cNvSpPr txBox="1"/>
          <p:nvPr/>
        </p:nvSpPr>
        <p:spPr>
          <a:xfrm>
            <a:off x="8503920" y="1709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pequeños · 20 a 60</a:t>
            </a:r>
            <a:endParaRPr lang="en-US" sz="1500" dirty="0"/>
          </a:p>
        </p:txBody>
      </p:sp>
      <p:sp>
        <p:nvSpPr>
          <p:cNvPr id="10" name="Lista rec 1"/>
          <p:cNvSpPr txBox="1"/>
          <p:nvPr/>
        </p:nvSpPr>
        <p:spPr>
          <a:xfrm>
            <a:off x="7863840" y="23317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 Mix o Cosmos Pack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barra basta: chilaquiles como cena o gomitas para botanear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porción por persona</a:t>
            </a:r>
            <a:endParaRPr lang="en-US" sz="1250" dirty="0"/>
          </a:p>
        </p:txBody>
      </p:sp>
      <p:sp>
        <p:nvSpPr>
          <p:cNvPr id="11" name="Recomendación 2"/>
          <p:cNvSpPr/>
          <p:nvPr/>
        </p:nvSpPr>
        <p:spPr>
          <a:xfrm>
            <a:off x="7635240" y="3840480"/>
            <a:ext cx="3977640" cy="2148840"/>
          </a:xfrm>
          <a:prstGeom prst="roundRect">
            <a:avLst>
              <a:gd name="adj" fmla="val 595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2" name="Recomendación 2 círculo"/>
          <p:cNvSpPr/>
          <p:nvPr/>
        </p:nvSpPr>
        <p:spPr>
          <a:xfrm>
            <a:off x="7863840" y="4041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ecomendación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599" y="4172407"/>
            <a:ext cx="241402" cy="241402"/>
          </a:xfrm>
          <a:prstGeom prst="rect">
            <a:avLst/>
          </a:prstGeom>
        </p:spPr>
      </p:pic>
      <p:sp>
        <p:nvSpPr>
          <p:cNvPr id="14" name="Título rec 2"/>
          <p:cNvSpPr txBox="1"/>
          <p:nvPr/>
        </p:nvSpPr>
        <p:spPr>
          <a:xfrm>
            <a:off x="8503920" y="4041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grandes · 70 o más</a:t>
            </a:r>
            <a:endParaRPr lang="en-US" sz="1500" dirty="0"/>
          </a:p>
        </p:txBody>
      </p:sp>
      <p:sp>
        <p:nvSpPr>
          <p:cNvPr id="15" name="Lista rec 2"/>
          <p:cNvSpPr txBox="1"/>
          <p:nvPr/>
        </p:nvSpPr>
        <p:spPr>
          <a:xfrm>
            <a:off x="7863840" y="466344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Moon o Moonlight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comida + cantaritos (barra adicional: consumo + $500)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¿Fiesta larga o after? 2 porciones por persona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EN MENOS DE 5 MINUTOS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cotizar con nosotros</a:t>
            </a:r>
            <a:endParaRPr lang="en-US" sz="3000" dirty="0"/>
          </a:p>
        </p:txBody>
      </p:sp>
      <p:sp>
        <p:nvSpPr>
          <p:cNvPr id="4" name="Paso 1"/>
          <p:cNvSpPr/>
          <p:nvPr/>
        </p:nvSpPr>
        <p:spPr>
          <a:xfrm>
            <a:off x="548640" y="1554480"/>
            <a:ext cx="2514600" cy="2834640"/>
          </a:xfrm>
          <a:prstGeom prst="roundRect">
            <a:avLst>
              <a:gd name="adj" fmla="val 5091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5" name="Número paso 1"/>
          <p:cNvSpPr txBox="1"/>
          <p:nvPr/>
        </p:nvSpPr>
        <p:spPr>
          <a:xfrm>
            <a:off x="804672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Paso 1 círculo"/>
          <p:cNvSpPr/>
          <p:nvPr/>
        </p:nvSpPr>
        <p:spPr>
          <a:xfrm>
            <a:off x="2240280" y="18105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as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81" y="1957913"/>
            <a:ext cx="272125" cy="272125"/>
          </a:xfrm>
          <a:prstGeom prst="rect">
            <a:avLst/>
          </a:prstGeom>
        </p:spPr>
      </p:pic>
      <p:sp>
        <p:nvSpPr>
          <p:cNvPr id="8" name="Título paso 1"/>
          <p:cNvSpPr txBox="1"/>
          <p:nvPr/>
        </p:nvSpPr>
        <p:spPr>
          <a:xfrm>
            <a:off x="804672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barra</a:t>
            </a:r>
            <a:endParaRPr lang="en-US" sz="1800" dirty="0"/>
          </a:p>
        </p:txBody>
      </p:sp>
      <p:sp>
        <p:nvSpPr>
          <p:cNvPr id="9" name="Desc paso 1"/>
          <p:cNvSpPr txBox="1"/>
          <p:nvPr/>
        </p:nvSpPr>
        <p:spPr>
          <a:xfrm>
            <a:off x="804672" y="3154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Chilaquiles, maruchan, gomitas o cantaritos. Los precios se ajustan solos.</a:t>
            </a:r>
            <a:endParaRPr lang="en-US" sz="1400" dirty="0"/>
          </a:p>
        </p:txBody>
      </p:sp>
      <p:pic>
        <p:nvPicPr>
          <p:cNvPr id="10" name="Flech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3017520"/>
            <a:ext cx="237744" cy="237744"/>
          </a:xfrm>
          <a:prstGeom prst="rect">
            <a:avLst/>
          </a:prstGeom>
        </p:spPr>
      </p:pic>
      <p:sp>
        <p:nvSpPr>
          <p:cNvPr id="11" name="Paso 2"/>
          <p:cNvSpPr/>
          <p:nvPr/>
        </p:nvSpPr>
        <p:spPr>
          <a:xfrm>
            <a:off x="3364992" y="1554480"/>
            <a:ext cx="2514600" cy="2834640"/>
          </a:xfrm>
          <a:prstGeom prst="roundRect">
            <a:avLst>
              <a:gd name="adj" fmla="val 5091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2" name="Número paso 2"/>
          <p:cNvSpPr txBox="1"/>
          <p:nvPr/>
        </p:nvSpPr>
        <p:spPr>
          <a:xfrm>
            <a:off x="3621024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Paso 2 círculo"/>
          <p:cNvSpPr/>
          <p:nvPr/>
        </p:nvSpPr>
        <p:spPr>
          <a:xfrm>
            <a:off x="5056632" y="18105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aso 2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033" y="1957913"/>
            <a:ext cx="272125" cy="272125"/>
          </a:xfrm>
          <a:prstGeom prst="rect">
            <a:avLst/>
          </a:prstGeom>
        </p:spPr>
      </p:pic>
      <p:sp>
        <p:nvSpPr>
          <p:cNvPr id="15" name="Título paso 2"/>
          <p:cNvSpPr txBox="1"/>
          <p:nvPr/>
        </p:nvSpPr>
        <p:spPr>
          <a:xfrm>
            <a:off x="3621024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paquete</a:t>
            </a:r>
            <a:endParaRPr lang="en-US" sz="1800" dirty="0"/>
          </a:p>
        </p:txBody>
      </p:sp>
      <p:sp>
        <p:nvSpPr>
          <p:cNvPr id="16" name="Desc paso 2"/>
          <p:cNvSpPr txBox="1"/>
          <p:nvPr/>
        </p:nvSpPr>
        <p:spPr>
          <a:xfrm>
            <a:off x="3621024" y="3154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personas, porciones, sabores, proteínas, tequila y extras.</a:t>
            </a:r>
            <a:endParaRPr lang="en-US" sz="1400" dirty="0"/>
          </a:p>
        </p:txBody>
      </p:sp>
      <p:pic>
        <p:nvPicPr>
          <p:cNvPr id="17" name="Flech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017520"/>
            <a:ext cx="237744" cy="237744"/>
          </a:xfrm>
          <a:prstGeom prst="rect">
            <a:avLst/>
          </a:prstGeom>
        </p:spPr>
      </p:pic>
      <p:sp>
        <p:nvSpPr>
          <p:cNvPr id="18" name="Paso 3"/>
          <p:cNvSpPr/>
          <p:nvPr/>
        </p:nvSpPr>
        <p:spPr>
          <a:xfrm>
            <a:off x="6181344" y="1554480"/>
            <a:ext cx="2514600" cy="2834640"/>
          </a:xfrm>
          <a:prstGeom prst="roundRect">
            <a:avLst>
              <a:gd name="adj" fmla="val 5091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9" name="Número paso 3"/>
          <p:cNvSpPr txBox="1"/>
          <p:nvPr/>
        </p:nvSpPr>
        <p:spPr>
          <a:xfrm>
            <a:off x="6437376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Paso 3 círculo"/>
          <p:cNvSpPr/>
          <p:nvPr/>
        </p:nvSpPr>
        <p:spPr>
          <a:xfrm>
            <a:off x="7872984" y="18105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aso 3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385" y="1957913"/>
            <a:ext cx="272125" cy="272125"/>
          </a:xfrm>
          <a:prstGeom prst="rect">
            <a:avLst/>
          </a:prstGeom>
        </p:spPr>
      </p:pic>
      <p:sp>
        <p:nvSpPr>
          <p:cNvPr id="22" name="Título paso 3"/>
          <p:cNvSpPr txBox="1"/>
          <p:nvPr/>
        </p:nvSpPr>
        <p:spPr>
          <a:xfrm>
            <a:off x="6437376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datos</a:t>
            </a:r>
            <a:endParaRPr lang="en-US" sz="1800" dirty="0"/>
          </a:p>
        </p:txBody>
      </p:sp>
      <p:sp>
        <p:nvSpPr>
          <p:cNvPr id="23" name="Desc paso 3"/>
          <p:cNvSpPr txBox="1"/>
          <p:nvPr/>
        </p:nvSpPr>
        <p:spPr>
          <a:xfrm>
            <a:off x="6437376" y="3154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te muestra los días disponibles: viernes, sábado y domingo.</a:t>
            </a:r>
            <a:endParaRPr lang="en-US" sz="1400" dirty="0"/>
          </a:p>
        </p:txBody>
      </p:sp>
      <p:pic>
        <p:nvPicPr>
          <p:cNvPr id="24" name="Flech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3017520"/>
            <a:ext cx="237744" cy="237744"/>
          </a:xfrm>
          <a:prstGeom prst="rect">
            <a:avLst/>
          </a:prstGeom>
        </p:spPr>
      </p:pic>
      <p:sp>
        <p:nvSpPr>
          <p:cNvPr id="25" name="Paso 4"/>
          <p:cNvSpPr/>
          <p:nvPr/>
        </p:nvSpPr>
        <p:spPr>
          <a:xfrm>
            <a:off x="8997696" y="1554480"/>
            <a:ext cx="2514600" cy="2834640"/>
          </a:xfrm>
          <a:prstGeom prst="roundRect">
            <a:avLst>
              <a:gd name="adj" fmla="val 5091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6" name="Número paso 4"/>
          <p:cNvSpPr txBox="1"/>
          <p:nvPr/>
        </p:nvSpPr>
        <p:spPr>
          <a:xfrm>
            <a:off x="9253728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Paso 4 círculo"/>
          <p:cNvSpPr/>
          <p:nvPr/>
        </p:nvSpPr>
        <p:spPr>
          <a:xfrm>
            <a:off x="10689336" y="18105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Paso 4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6737" y="1957913"/>
            <a:ext cx="272125" cy="272125"/>
          </a:xfrm>
          <a:prstGeom prst="rect">
            <a:avLst/>
          </a:prstGeom>
        </p:spPr>
      </p:pic>
      <p:sp>
        <p:nvSpPr>
          <p:cNvPr id="29" name="Título paso 4"/>
          <p:cNvSpPr txBox="1"/>
          <p:nvPr/>
        </p:nvSpPr>
        <p:spPr>
          <a:xfrm>
            <a:off x="925372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tu PDF</a:t>
            </a:r>
            <a:endParaRPr lang="en-US" sz="1800" dirty="0"/>
          </a:p>
        </p:txBody>
      </p:sp>
      <p:sp>
        <p:nvSpPr>
          <p:cNvPr id="30" name="Desc paso 4"/>
          <p:cNvSpPr txBox="1"/>
          <p:nvPr/>
        </p:nvSpPr>
        <p:spPr>
          <a:xfrm>
            <a:off x="9253728" y="3154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tu cotización con folio. Síguela en "Rastrea tu cotización".</a:t>
            </a:r>
            <a:endParaRPr lang="en-US" sz="1400" dirty="0"/>
          </a:p>
        </p:txBody>
      </p:sp>
      <p:sp>
        <p:nvSpPr>
          <p:cNvPr id="31" name="Aparta tu fecha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12727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32" name="Aparta círculo"/>
          <p:cNvSpPr/>
          <p:nvPr/>
        </p:nvSpPr>
        <p:spPr>
          <a:xfrm>
            <a:off x="777240" y="4910328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3" name="Aparta ícon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4" y="5064862"/>
            <a:ext cx="285293" cy="285293"/>
          </a:xfrm>
          <a:prstGeom prst="rect">
            <a:avLst/>
          </a:prstGeom>
        </p:spPr>
      </p:pic>
      <p:sp>
        <p:nvSpPr>
          <p:cNvPr id="34" name="Texto aparta"/>
          <p:cNvSpPr txBox="1"/>
          <p:nvPr/>
        </p:nvSpPr>
        <p:spPr>
          <a:xfrm>
            <a:off x="1600200" y="47091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 tu fecha con el 50% de anticipo.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se liquida el día del evento. Cotiza en la web o por WhatsApp al 55 7190 1664.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6"/>
                </a:solidFill>
              </a:rPr>
              <a:t>ANTES DE RESERVAR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tienes que saber</a:t>
            </a:r>
            <a:endParaRPr lang="en-US" sz="3000" dirty="0"/>
          </a:p>
        </p:txBody>
      </p:sp>
      <p:sp>
        <p:nvSpPr>
          <p:cNvPr id="4" name="Condición 1 círculo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ndición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47601"/>
            <a:ext cx="272125" cy="272125"/>
          </a:xfrm>
          <a:prstGeom prst="rect">
            <a:avLst/>
          </a:prstGeom>
        </p:spPr>
      </p:pic>
      <p:sp>
        <p:nvSpPr>
          <p:cNvPr id="6" name="Título cond 1"/>
          <p:cNvSpPr txBox="1"/>
          <p:nvPr/>
        </p:nvSpPr>
        <p:spPr>
          <a:xfrm>
            <a:off x="1325880" y="1508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de servicio</a:t>
            </a:r>
            <a:endParaRPr lang="en-US" sz="1700" dirty="0"/>
          </a:p>
        </p:txBody>
      </p:sp>
      <p:sp>
        <p:nvSpPr>
          <p:cNvPr id="7" name="Desc cond 1"/>
          <p:cNvSpPr txBox="1"/>
          <p:nvPr/>
        </p:nvSpPr>
        <p:spPr>
          <a:xfrm>
            <a:off x="1325880" y="1892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desde 8 PM, sábado a cualquier hora y domingo hasta 4 AM. Cotizaciones 24/7.</a:t>
            </a:r>
            <a:endParaRPr lang="en-US" sz="1400" dirty="0"/>
          </a:p>
        </p:txBody>
      </p:sp>
      <p:sp>
        <p:nvSpPr>
          <p:cNvPr id="8" name="Condición 2 círculo"/>
          <p:cNvSpPr/>
          <p:nvPr/>
        </p:nvSpPr>
        <p:spPr>
          <a:xfrm>
            <a:off x="548640" y="27157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ondición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863169"/>
            <a:ext cx="272125" cy="272125"/>
          </a:xfrm>
          <a:prstGeom prst="rect">
            <a:avLst/>
          </a:prstGeom>
        </p:spPr>
      </p:pic>
      <p:sp>
        <p:nvSpPr>
          <p:cNvPr id="10" name="Título cond 2"/>
          <p:cNvSpPr txBox="1"/>
          <p:nvPr/>
        </p:nvSpPr>
        <p:spPr>
          <a:xfrm>
            <a:off x="1325880" y="2624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</a:t>
            </a:r>
            <a:endParaRPr lang="en-US" sz="1700" dirty="0"/>
          </a:p>
        </p:txBody>
      </p:sp>
      <p:sp>
        <p:nvSpPr>
          <p:cNvPr id="11" name="Desc cond 2"/>
          <p:cNvSpPr txBox="1"/>
          <p:nvPr/>
        </p:nvSpPr>
        <p:spPr>
          <a:xfrm>
            <a:off x="1325880" y="300837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 mínimo 3 días de anticipación. Fechas sujetas a disponibilidad.</a:t>
            </a:r>
            <a:endParaRPr lang="en-US" sz="1400" dirty="0"/>
          </a:p>
        </p:txBody>
      </p:sp>
      <p:sp>
        <p:nvSpPr>
          <p:cNvPr id="12" name="Condición 3 círculo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ondición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978737"/>
            <a:ext cx="272125" cy="272125"/>
          </a:xfrm>
          <a:prstGeom prst="rect">
            <a:avLst/>
          </a:prstGeom>
        </p:spPr>
      </p:pic>
      <p:sp>
        <p:nvSpPr>
          <p:cNvPr id="14" name="Título cond 3"/>
          <p:cNvSpPr txBox="1"/>
          <p:nvPr/>
        </p:nvSpPr>
        <p:spPr>
          <a:xfrm>
            <a:off x="1325880" y="37398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700" dirty="0"/>
          </a:p>
        </p:txBody>
      </p:sp>
      <p:sp>
        <p:nvSpPr>
          <p:cNvPr id="15" name="Desc cond 3"/>
          <p:cNvSpPr txBox="1"/>
          <p:nvPr/>
        </p:nvSpPr>
        <p:spPr>
          <a:xfrm>
            <a:off x="1325880" y="41239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 y Estado de México, traslado $200. Fuera de esta zona, el traslado se cotiza aparte.</a:t>
            </a:r>
            <a:endParaRPr lang="en-US" sz="1400" dirty="0"/>
          </a:p>
        </p:txBody>
      </p:sp>
      <p:sp>
        <p:nvSpPr>
          <p:cNvPr id="16" name="Condición 4 círculo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ondición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094305"/>
            <a:ext cx="272125" cy="272125"/>
          </a:xfrm>
          <a:prstGeom prst="rect">
            <a:avLst/>
          </a:prstGeom>
        </p:spPr>
      </p:pic>
      <p:sp>
        <p:nvSpPr>
          <p:cNvPr id="18" name="Título cond 4"/>
          <p:cNvSpPr txBox="1"/>
          <p:nvPr/>
        </p:nvSpPr>
        <p:spPr>
          <a:xfrm>
            <a:off x="1325880" y="48554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700" dirty="0"/>
          </a:p>
        </p:txBody>
      </p:sp>
      <p:sp>
        <p:nvSpPr>
          <p:cNvPr id="19" name="Desc cond 4"/>
          <p:cNvSpPr txBox="1"/>
          <p:nvPr/>
        </p:nvSpPr>
        <p:spPr>
          <a:xfrm>
            <a:off x="1325880" y="52395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Emitimos factura (CFDI). Comparte tus datos fiscales al cotizar.</a:t>
            </a:r>
            <a:endParaRPr lang="en-US" sz="1400" dirty="0"/>
          </a:p>
        </p:txBody>
      </p:sp>
      <p:sp>
        <p:nvSpPr>
          <p:cNvPr id="20" name="Cancelaciones"/>
          <p:cNvSpPr/>
          <p:nvPr/>
        </p:nvSpPr>
        <p:spPr>
          <a:xfrm>
            <a:off x="6583680" y="1508760"/>
            <a:ext cx="5029200" cy="4434840"/>
          </a:xfrm>
          <a:prstGeom prst="roundRect">
            <a:avLst>
              <a:gd name="adj" fmla="val 288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1" name="Título cancelaciones"/>
          <p:cNvSpPr txBox="1"/>
          <p:nvPr/>
        </p:nvSpPr>
        <p:spPr>
          <a:xfrm>
            <a:off x="6858000" y="1737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CANCELACIONES</a:t>
            </a:r>
            <a:endParaRPr lang="en-US" sz="1600" dirty="0"/>
          </a:p>
        </p:txBody>
      </p:sp>
      <p:sp>
        <p:nvSpPr>
          <p:cNvPr id="22" name="Fila canc 1"/>
          <p:cNvSpPr/>
          <p:nvPr/>
        </p:nvSpPr>
        <p:spPr>
          <a:xfrm>
            <a:off x="6858000" y="2331720"/>
            <a:ext cx="4480560" cy="621792"/>
          </a:xfrm>
          <a:prstGeom prst="roundRect">
            <a:avLst>
              <a:gd name="adj" fmla="val 14706"/>
            </a:avLst>
          </a:prstGeom>
          <a:solidFill>
            <a:schemeClr val="bg1">
              <a:alpha val="6000"/>
            </a:schemeClr>
          </a:solidFill>
          <a:ln/>
        </p:spPr>
      </p:sp>
      <p:sp>
        <p:nvSpPr>
          <p:cNvPr id="23" name="Plazo 1"/>
          <p:cNvSpPr txBox="1"/>
          <p:nvPr/>
        </p:nvSpPr>
        <p:spPr>
          <a:xfrm>
            <a:off x="7040880" y="23317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días o más</a:t>
            </a:r>
            <a:endParaRPr lang="en-US" sz="1400" dirty="0"/>
          </a:p>
        </p:txBody>
      </p:sp>
      <p:sp>
        <p:nvSpPr>
          <p:cNvPr id="24" name="Reembolso 1"/>
          <p:cNvSpPr txBox="1"/>
          <p:nvPr/>
        </p:nvSpPr>
        <p:spPr>
          <a:xfrm>
            <a:off x="9235440" y="23317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del anticipo</a:t>
            </a:r>
            <a:endParaRPr lang="en-US" sz="1400" dirty="0"/>
          </a:p>
        </p:txBody>
      </p:sp>
      <p:sp>
        <p:nvSpPr>
          <p:cNvPr id="25" name="Fila canc 2"/>
          <p:cNvSpPr/>
          <p:nvPr/>
        </p:nvSpPr>
        <p:spPr>
          <a:xfrm>
            <a:off x="6858000" y="3081528"/>
            <a:ext cx="4480560" cy="621792"/>
          </a:xfrm>
          <a:prstGeom prst="roundRect">
            <a:avLst>
              <a:gd name="adj" fmla="val 14706"/>
            </a:avLst>
          </a:prstGeom>
          <a:solidFill>
            <a:schemeClr val="bg1">
              <a:alpha val="6000"/>
            </a:schemeClr>
          </a:solidFill>
          <a:ln/>
        </p:spPr>
      </p:sp>
      <p:sp>
        <p:nvSpPr>
          <p:cNvPr id="26" name="Plazo 2"/>
          <p:cNvSpPr txBox="1"/>
          <p:nvPr/>
        </p:nvSpPr>
        <p:spPr>
          <a:xfrm>
            <a:off x="7040880" y="30815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 y 6 días</a:t>
            </a:r>
            <a:endParaRPr lang="en-US" sz="1400" dirty="0"/>
          </a:p>
        </p:txBody>
      </p:sp>
      <p:sp>
        <p:nvSpPr>
          <p:cNvPr id="27" name="Reembolso 2"/>
          <p:cNvSpPr txBox="1"/>
          <p:nvPr/>
        </p:nvSpPr>
        <p:spPr>
          <a:xfrm>
            <a:off x="9235440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del anticipo</a:t>
            </a:r>
            <a:endParaRPr lang="en-US" sz="1400" dirty="0"/>
          </a:p>
        </p:txBody>
      </p:sp>
      <p:sp>
        <p:nvSpPr>
          <p:cNvPr id="28" name="Fila canc 3"/>
          <p:cNvSpPr/>
          <p:nvPr/>
        </p:nvSpPr>
        <p:spPr>
          <a:xfrm>
            <a:off x="6858000" y="3831336"/>
            <a:ext cx="4480560" cy="621792"/>
          </a:xfrm>
          <a:prstGeom prst="roundRect">
            <a:avLst>
              <a:gd name="adj" fmla="val 14706"/>
            </a:avLst>
          </a:prstGeom>
          <a:solidFill>
            <a:schemeClr val="bg1">
              <a:alpha val="6000"/>
            </a:schemeClr>
          </a:solidFill>
          <a:ln/>
        </p:spPr>
      </p:sp>
      <p:sp>
        <p:nvSpPr>
          <p:cNvPr id="29" name="Plazo 3"/>
          <p:cNvSpPr txBox="1"/>
          <p:nvPr/>
        </p:nvSpPr>
        <p:spPr>
          <a:xfrm>
            <a:off x="7040880" y="38313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3 días</a:t>
            </a:r>
            <a:endParaRPr lang="en-US" sz="1400" dirty="0"/>
          </a:p>
        </p:txBody>
      </p:sp>
      <p:sp>
        <p:nvSpPr>
          <p:cNvPr id="30" name="Reembolso 3"/>
          <p:cNvSpPr txBox="1"/>
          <p:nvPr/>
        </p:nvSpPr>
        <p:spPr>
          <a:xfrm>
            <a:off x="9235440" y="383133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reembolso</a:t>
            </a:r>
            <a:endParaRPr lang="en-US" sz="1400" dirty="0"/>
          </a:p>
        </p:txBody>
      </p:sp>
      <p:sp>
        <p:nvSpPr>
          <p:cNvPr id="31" name="Fila canc 4"/>
          <p:cNvSpPr/>
          <p:nvPr/>
        </p:nvSpPr>
        <p:spPr>
          <a:xfrm>
            <a:off x="6858000" y="4581144"/>
            <a:ext cx="4480560" cy="621792"/>
          </a:xfrm>
          <a:prstGeom prst="roundRect">
            <a:avLst>
              <a:gd name="adj" fmla="val 14706"/>
            </a:avLst>
          </a:prstGeom>
          <a:solidFill>
            <a:schemeClr val="bg1">
              <a:alpha val="6000"/>
            </a:schemeClr>
          </a:solidFill>
          <a:ln/>
        </p:spPr>
      </p:sp>
      <p:sp>
        <p:nvSpPr>
          <p:cNvPr id="32" name="Plazo 4"/>
          <p:cNvSpPr txBox="1"/>
          <p:nvPr/>
        </p:nvSpPr>
        <p:spPr>
          <a:xfrm>
            <a:off x="7040880" y="45811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cancelamos nosotros</a:t>
            </a:r>
            <a:endParaRPr lang="en-US" sz="1400" dirty="0"/>
          </a:p>
        </p:txBody>
      </p:sp>
      <p:sp>
        <p:nvSpPr>
          <p:cNvPr id="33" name="Reembolso 4"/>
          <p:cNvSpPr txBox="1"/>
          <p:nvPr/>
        </p:nvSpPr>
        <p:spPr>
          <a:xfrm>
            <a:off x="9235440" y="458114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 anticipo</a:t>
            </a:r>
            <a:endParaRPr lang="en-US" sz="1400" dirty="0"/>
          </a:p>
        </p:txBody>
      </p:sp>
      <p:sp>
        <p:nvSpPr>
          <p:cNvPr id="34" name="Fuerza mayor"/>
          <p:cNvSpPr txBox="1"/>
          <p:nvPr/>
        </p:nvSpPr>
        <p:spPr>
          <a:xfrm>
            <a:off x="685800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clima extremo u otra causa de fuerza mayor, reagendamos sin costo.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cierre" descr="/home/claude/assets/logo_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1828800" cy="1828800"/>
          </a:xfrm>
          <a:prstGeom prst="rect">
            <a:avLst/>
          </a:prstGeom>
        </p:spPr>
      </p:pic>
      <p:sp>
        <p:nvSpPr>
          <p:cNvPr id="3" name="Cierre 1"/>
          <p:cNvSpPr txBox="1"/>
          <p:nvPr/>
        </p:nvSpPr>
        <p:spPr>
          <a:xfrm>
            <a:off x="731520" y="2788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¿LISTO PARA</a:t>
            </a:r>
            <a:endParaRPr lang="en-US" sz="4800" dirty="0"/>
          </a:p>
        </p:txBody>
      </p:sp>
      <p:sp>
        <p:nvSpPr>
          <p:cNvPr id="4" name="Cierre 2"/>
          <p:cNvSpPr txBox="1"/>
          <p:nvPr/>
        </p:nvSpPr>
        <p:spPr>
          <a:xfrm>
            <a:off x="731520" y="3566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BAJÓN?</a:t>
            </a:r>
            <a:endParaRPr lang="en-US" sz="4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81728"/>
            <a:ext cx="274320" cy="274320"/>
          </a:xfrm>
          <a:prstGeom prst="rect">
            <a:avLst/>
          </a:prstGeom>
        </p:spPr>
      </p:pic>
      <p:sp>
        <p:nvSpPr>
          <p:cNvPr id="6" name="Contacto 1">
            <a:hlinkClick r:id="rId3" tooltip=""/>
          </p:cNvPr>
          <p:cNvSpPr txBox="1"/>
          <p:nvPr/>
        </p:nvSpPr>
        <p:spPr>
          <a:xfrm>
            <a:off x="1143000" y="46177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WhatsApp: 55 7190 1664 · cotizaciones 24/7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38928"/>
            <a:ext cx="274320" cy="274320"/>
          </a:xfrm>
          <a:prstGeom prst="rect">
            <a:avLst/>
          </a:prstGeom>
        </p:spPr>
      </p:pic>
      <p:sp>
        <p:nvSpPr>
          <p:cNvPr id="8" name="Contacto 2"/>
          <p:cNvSpPr txBox="1"/>
          <p:nvPr/>
        </p:nvSpPr>
        <p:spPr>
          <a:xfrm>
            <a:off x="1143000" y="50749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@bajon_lunar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96128"/>
            <a:ext cx="274320" cy="274320"/>
          </a:xfrm>
          <a:prstGeom prst="rect">
            <a:avLst/>
          </a:prstGeom>
        </p:spPr>
      </p:pic>
      <p:sp>
        <p:nvSpPr>
          <p:cNvPr id="10" name="Contacto 3"/>
          <p:cNvSpPr txBox="1"/>
          <p:nvPr/>
        </p:nvSpPr>
        <p:spPr>
          <a:xfrm>
            <a:off x="1143000" y="55321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Correo: bajonlunar@gmail.com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53328"/>
            <a:ext cx="274320" cy="274320"/>
          </a:xfrm>
          <a:prstGeom prst="rect">
            <a:avLst/>
          </a:prstGeom>
        </p:spPr>
      </p:pic>
      <p:sp>
        <p:nvSpPr>
          <p:cNvPr id="12" name="Contacto 4">
            <a:hlinkClick r:id="rId7" tooltip=""/>
          </p:cNvPr>
          <p:cNvSpPr txBox="1"/>
          <p:nvPr/>
        </p:nvSpPr>
        <p:spPr>
          <a:xfrm>
            <a:off x="1143000" y="59893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ingalejandrofh01-boop.github.io/Bajon-Lunar</a:t>
            </a:r>
            <a:endParaRPr lang="en-US" sz="1600" dirty="0"/>
          </a:p>
        </p:txBody>
      </p:sp>
      <p:sp>
        <p:nvSpPr>
          <p:cNvPr id="13" name="Fondo QR 1"/>
          <p:cNvSpPr/>
          <p:nvPr/>
        </p:nvSpPr>
        <p:spPr>
          <a:xfrm>
            <a:off x="7498080" y="251460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pic>
        <p:nvPicPr>
          <p:cNvPr id="14" name="QR 1" descr="/home/claude/assets/qr_s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2651760"/>
            <a:ext cx="1737360" cy="1737360"/>
          </a:xfrm>
          <a:prstGeom prst="rect">
            <a:avLst/>
          </a:prstGeom>
        </p:spPr>
      </p:pic>
      <p:sp>
        <p:nvSpPr>
          <p:cNvPr id="15" name="Texto QR 1"/>
          <p:cNvSpPr txBox="1"/>
          <p:nvPr/>
        </p:nvSpPr>
        <p:spPr>
          <a:xfrm>
            <a:off x="7406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 en línea</a:t>
            </a:r>
            <a:endParaRPr lang="en-US" sz="1400" dirty="0"/>
          </a:p>
        </p:txBody>
      </p:sp>
      <p:sp>
        <p:nvSpPr>
          <p:cNvPr id="16" name="Fondo QR 2"/>
          <p:cNvSpPr/>
          <p:nvPr/>
        </p:nvSpPr>
        <p:spPr>
          <a:xfrm>
            <a:off x="9784080" y="251460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pic>
        <p:nvPicPr>
          <p:cNvPr id="17" name="QR 2" descr="/home/claude/assets/qr_w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2651760"/>
            <a:ext cx="1737360" cy="1737360"/>
          </a:xfrm>
          <a:prstGeom prst="rect">
            <a:avLst/>
          </a:prstGeom>
        </p:spPr>
      </p:pic>
      <p:sp>
        <p:nvSpPr>
          <p:cNvPr id="18" name="Texto QR 2"/>
          <p:cNvSpPr txBox="1"/>
          <p:nvPr/>
        </p:nvSpPr>
        <p:spPr>
          <a:xfrm>
            <a:off x="9692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Escríbenos por WhatsApp</a:t>
            </a:r>
            <a:endParaRPr lang="en-US" sz="1400" dirty="0"/>
          </a:p>
        </p:txBody>
      </p:sp>
      <p:sp>
        <p:nvSpPr>
          <p:cNvPr id="19" name="Invitación QR"/>
          <p:cNvSpPr txBox="1"/>
          <p:nvPr/>
        </p:nvSpPr>
        <p:spPr>
          <a:xfrm>
            <a:off x="749808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 arma tu paquete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jon Lunar">
  <a:themeElements>
    <a:clrScheme name="Bajon Lunar">
      <a:dk1>
        <a:srgbClr val="07070E"/>
      </a:dk1>
      <a:lt1>
        <a:srgbClr val="F0F0FA"/>
      </a:lt1>
      <a:dk2>
        <a:srgbClr val="10101E"/>
      </a:dk2>
      <a:lt2>
        <a:srgbClr val="A6A6CC"/>
      </a:lt2>
      <a:accent1>
        <a:srgbClr val="1A3BFF"/>
      </a:accent1>
      <a:accent2>
        <a:srgbClr val="C8A96E"/>
      </a:accent2>
      <a:accent3>
        <a:srgbClr val="60CFFF"/>
      </a:accent3>
      <a:accent4>
        <a:srgbClr val="4ADE80"/>
      </a:accent4>
      <a:accent5>
        <a:srgbClr val="25D366"/>
      </a:accent5>
      <a:accent6>
        <a:srgbClr val="6F86FF"/>
      </a:accent6>
      <a:hlink>
        <a:srgbClr val="6F86FF"/>
      </a:hlink>
      <a:folHlink>
        <a:srgbClr val="C8A96E"/>
      </a:folHlink>
    </a:clrScheme>
    <a:fontScheme name="Bajon Lunar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Bajón Lunar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Bajón Lunar — Presentación 2026</dc:title>
  <dc:subject>PptxGenJS Presentation</dc:subject>
  <dc:creator>Bajón Lunar</dc:creator>
  <cp:lastModifiedBy>Bajón Lunar</cp:lastModifiedBy>
  <cp:revision>1</cp:revision>
  <dcterms:created xsi:type="dcterms:W3CDTF">2026-10-15T23:59:33Z</dcterms:created>
  <dcterms:modified xsi:type="dcterms:W3CDTF">2026-10-15T23:59:33Z</dcterms:modified>
</cp:coreProperties>
</file>